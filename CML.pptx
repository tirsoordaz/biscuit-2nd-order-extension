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264492C-CAF0-4378-8BD9-8C47725FF58D}">
  <a:tblStyle styleId="{A264492C-CAF0-4378-8BD9-8C47725FF58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52db550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52db550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f535da92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f535da92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52db5500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f52db5500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52db55004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f52db55004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52db5500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f52db5500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f52db5500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f52db5500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52db5500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f52db5500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f52db55004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f52db5500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52db5500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52db5500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5376be0b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f5376be0b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f5376be0b4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f5376be0b4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f5376be0b4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f5376be0b4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f5376be0b4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f5376be0b4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f5376be0b4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f5376be0b4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f5376be0b4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f5376be0b4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f52db55004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f52db55004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5376be0b4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f5376be0b4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f5376be0b4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f5376be0b4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Times New Roman"/>
              <a:buNone/>
              <a:defRPr sz="2800">
                <a:solidFill>
                  <a:schemeClr val="dk1"/>
                </a:solidFill>
                <a:latin typeface="Times New Roman"/>
                <a:ea typeface="Times New Roman"/>
                <a:cs typeface="Times New Roman"/>
                <a:sym typeface="Times New Roman"/>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Times New Roman"/>
              <a:buChar char="●"/>
              <a:defRPr sz="1800">
                <a:solidFill>
                  <a:schemeClr val="dk2"/>
                </a:solidFill>
                <a:latin typeface="Times New Roman"/>
                <a:ea typeface="Times New Roman"/>
                <a:cs typeface="Times New Roman"/>
                <a:sym typeface="Times New Roman"/>
              </a:defRPr>
            </a:lvl1pPr>
            <a:lvl2pPr indent="-317500" lvl="1" marL="914400">
              <a:lnSpc>
                <a:spcPct val="115000"/>
              </a:lnSpc>
              <a:spcBef>
                <a:spcPts val="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2pPr>
            <a:lvl3pPr indent="-317500" lvl="2" marL="1371600">
              <a:lnSpc>
                <a:spcPct val="115000"/>
              </a:lnSpc>
              <a:spcBef>
                <a:spcPts val="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hyperlink" Target="https://github.com/phlippe/CITRI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hyperlink" Target="https://github.com/phlippe/CITRI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hyperlink" Target="https://phlippe.github.io/BISCUIT/"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hyperlink" Target="https://phlippe.github.io/BISCUI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s" sz="4380"/>
              <a:t>Causal Representation Learning from Temporal Sequences</a:t>
            </a:r>
            <a:endParaRPr sz="4380"/>
          </a:p>
        </p:txBody>
      </p:sp>
      <p:sp>
        <p:nvSpPr>
          <p:cNvPr id="55" name="Google Shape;55;p13"/>
          <p:cNvSpPr txBox="1"/>
          <p:nvPr>
            <p:ph idx="1" type="subTitle"/>
          </p:nvPr>
        </p:nvSpPr>
        <p:spPr>
          <a:xfrm>
            <a:off x="311700" y="2834125"/>
            <a:ext cx="8556900" cy="1272900"/>
          </a:xfrm>
          <a:prstGeom prst="rect">
            <a:avLst/>
          </a:prstGeom>
        </p:spPr>
        <p:txBody>
          <a:bodyPr anchorCtr="0" anchor="t" bIns="91425" lIns="91425" spcFirstLastPara="1" rIns="91425" wrap="square" tIns="91425">
            <a:normAutofit fontScale="47500" lnSpcReduction="10000"/>
          </a:bodyPr>
          <a:lstStyle/>
          <a:p>
            <a:pPr indent="0" lvl="0" marL="0" rtl="0" algn="ctr">
              <a:spcBef>
                <a:spcPts val="0"/>
              </a:spcBef>
              <a:spcAft>
                <a:spcPts val="0"/>
              </a:spcAft>
              <a:buNone/>
            </a:pPr>
            <a:r>
              <a:rPr lang="es" sz="3800"/>
              <a:t>Advanced Research Topics in Causal Machine Learning </a:t>
            </a:r>
            <a:endParaRPr sz="3800"/>
          </a:p>
          <a:p>
            <a:pPr indent="0" lvl="0" marL="0" rtl="0" algn="ctr">
              <a:spcBef>
                <a:spcPts val="0"/>
              </a:spcBef>
              <a:spcAft>
                <a:spcPts val="0"/>
              </a:spcAft>
              <a:buNone/>
            </a:pPr>
            <a:r>
              <a:rPr lang="es" sz="3600"/>
              <a:t>Seminar SS2026</a:t>
            </a:r>
            <a:endParaRPr sz="3600"/>
          </a:p>
          <a:p>
            <a:pPr indent="0" lvl="0" marL="0" rtl="0" algn="ctr">
              <a:spcBef>
                <a:spcPts val="0"/>
              </a:spcBef>
              <a:spcAft>
                <a:spcPts val="0"/>
              </a:spcAft>
              <a:buNone/>
            </a:pPr>
            <a:r>
              <a:t/>
            </a:r>
            <a:endParaRPr sz="3600"/>
          </a:p>
          <a:p>
            <a:pPr indent="0" lvl="0" marL="0" rtl="0" algn="ctr">
              <a:spcBef>
                <a:spcPts val="0"/>
              </a:spcBef>
              <a:spcAft>
                <a:spcPts val="0"/>
              </a:spcAft>
              <a:buNone/>
            </a:pPr>
            <a:r>
              <a:rPr lang="es"/>
              <a:t>Luis Roberto Bustos Vargas (7084008)</a:t>
            </a:r>
            <a:endParaRPr/>
          </a:p>
          <a:p>
            <a:pPr indent="0" lvl="0" marL="0" rtl="0" algn="ctr">
              <a:spcBef>
                <a:spcPts val="0"/>
              </a:spcBef>
              <a:spcAft>
                <a:spcPts val="0"/>
              </a:spcAft>
              <a:buNone/>
            </a:pPr>
            <a:r>
              <a:rPr lang="es"/>
              <a:t>Tirso Gustavo Ordaz Garcia (7082527)</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Background &amp; Motivation</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t>DL relies mainly on correlations</a:t>
            </a:r>
            <a:endParaRPr/>
          </a:p>
          <a:p>
            <a:pPr indent="-342900" lvl="0" marL="457200" rtl="0" algn="l">
              <a:spcBef>
                <a:spcPts val="0"/>
              </a:spcBef>
              <a:spcAft>
                <a:spcPts val="0"/>
              </a:spcAft>
              <a:buSzPts val="1800"/>
              <a:buChar char="●"/>
            </a:pPr>
            <a:r>
              <a:rPr lang="es"/>
              <a:t>Real world data is highly entangled</a:t>
            </a:r>
            <a:endParaRPr/>
          </a:p>
          <a:p>
            <a:pPr indent="-342900" lvl="0" marL="457200" rtl="0" algn="l">
              <a:spcBef>
                <a:spcPts val="0"/>
              </a:spcBef>
              <a:spcAft>
                <a:spcPts val="0"/>
              </a:spcAft>
              <a:buSzPts val="1800"/>
              <a:buChar char="●"/>
            </a:pPr>
            <a:r>
              <a:rPr lang="es"/>
              <a:t>We want to predict true high level causal variables from raw images, n</a:t>
            </a:r>
            <a:r>
              <a:rPr lang="es"/>
              <a:t>ot just predict next frame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Why temporal sequences?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Time + interventions are the keys for identifiability</a:t>
            </a:r>
            <a:endParaRPr/>
          </a:p>
          <a:p>
            <a:pPr indent="0" lvl="0" marL="0" rtl="0" algn="l">
              <a:spcBef>
                <a:spcPts val="1200"/>
              </a:spcBef>
              <a:spcAft>
                <a:spcPts val="0"/>
              </a:spcAft>
              <a:buNone/>
            </a:pPr>
            <a:r>
              <a:rPr lang="es"/>
              <a:t>Changes are governed by physics and causal laws: temporal dynamics</a:t>
            </a:r>
            <a:endParaRPr/>
          </a:p>
          <a:p>
            <a:pPr indent="0" lvl="0" marL="0" rtl="0" algn="l">
              <a:spcBef>
                <a:spcPts val="1200"/>
              </a:spcBef>
              <a:spcAft>
                <a:spcPts val="1200"/>
              </a:spcAft>
              <a:buNone/>
            </a:pPr>
            <a:r>
              <a:rPr lang="es"/>
              <a:t>By observing how high dimensional observations transition over time under specific actions, we can guarantee the isolation and identification of the true causal variables.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342900" lvl="0" marL="457200" rtl="0" algn="l">
              <a:spcBef>
                <a:spcPts val="1200"/>
              </a:spcBef>
              <a:spcAft>
                <a:spcPts val="0"/>
              </a:spcAft>
              <a:buSzPts val="1800"/>
              <a:buChar char="●"/>
            </a:pPr>
            <a:r>
              <a:rPr lang="es"/>
              <a:t>Encoder</a:t>
            </a:r>
            <a:endParaRPr/>
          </a:p>
          <a:p>
            <a:pPr indent="-342900" lvl="0" marL="457200" rtl="0" algn="l">
              <a:spcBef>
                <a:spcPts val="0"/>
              </a:spcBef>
              <a:spcAft>
                <a:spcPts val="0"/>
              </a:spcAft>
              <a:buSzPts val="1800"/>
              <a:buChar char="●"/>
            </a:pPr>
            <a:r>
              <a:rPr lang="es"/>
              <a:t>Normalizing Flow</a:t>
            </a:r>
            <a:endParaRPr/>
          </a:p>
          <a:p>
            <a:pPr indent="-342900" lvl="0" marL="457200" rtl="0" algn="l">
              <a:spcBef>
                <a:spcPts val="0"/>
              </a:spcBef>
              <a:spcAft>
                <a:spcPts val="0"/>
              </a:spcAft>
              <a:buSzPts val="1800"/>
              <a:buChar char="●"/>
            </a:pPr>
            <a:r>
              <a:rPr lang="es"/>
              <a:t>Transition Prior</a:t>
            </a:r>
            <a:endParaRPr/>
          </a:p>
        </p:txBody>
      </p:sp>
      <p:pic>
        <p:nvPicPr>
          <p:cNvPr id="73" name="Google Shape;73;p16"/>
          <p:cNvPicPr preferRelativeResize="0"/>
          <p:nvPr/>
        </p:nvPicPr>
        <p:blipFill>
          <a:blip r:embed="rId3">
            <a:alphaModFix/>
          </a:blip>
          <a:stretch>
            <a:fillRect/>
          </a:stretch>
        </p:blipFill>
        <p:spPr>
          <a:xfrm>
            <a:off x="3163775" y="1482225"/>
            <a:ext cx="5668526" cy="3009925"/>
          </a:xfrm>
          <a:prstGeom prst="rect">
            <a:avLst/>
          </a:prstGeom>
          <a:noFill/>
          <a:ln>
            <a:noFill/>
          </a:ln>
        </p:spPr>
      </p:pic>
      <p:sp>
        <p:nvSpPr>
          <p:cNvPr id="74" name="Google Shape;74;p16"/>
          <p:cNvSpPr txBox="1"/>
          <p:nvPr>
            <p:ph type="title"/>
          </p:nvPr>
        </p:nvSpPr>
        <p:spPr>
          <a:xfrm>
            <a:off x="311700" y="359300"/>
            <a:ext cx="8588100" cy="96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CITRIS: Causal </a:t>
            </a:r>
            <a:r>
              <a:rPr lang="es"/>
              <a:t>Identifiability</a:t>
            </a:r>
            <a:r>
              <a:rPr lang="es"/>
              <a:t> from (Instantaneous) Temporal Intervened Sequences</a:t>
            </a:r>
            <a:endParaRPr/>
          </a:p>
        </p:txBody>
      </p:sp>
      <p:sp>
        <p:nvSpPr>
          <p:cNvPr id="75" name="Google Shape;75;p16"/>
          <p:cNvSpPr txBox="1"/>
          <p:nvPr/>
        </p:nvSpPr>
        <p:spPr>
          <a:xfrm>
            <a:off x="5781850" y="449215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u="sng">
                <a:solidFill>
                  <a:schemeClr val="hlink"/>
                </a:solidFill>
                <a:hlinkClick r:id="rId4"/>
              </a:rPr>
              <a:t>https://github.com/phlippe/CITRIS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Interventional Pong environment</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s"/>
              <a:t>Paddles move towards the ball</a:t>
            </a:r>
            <a:endParaRPr/>
          </a:p>
          <a:p>
            <a:pPr indent="-342900" lvl="0" marL="457200" rtl="0" algn="l">
              <a:spcBef>
                <a:spcPts val="0"/>
              </a:spcBef>
              <a:spcAft>
                <a:spcPts val="0"/>
              </a:spcAft>
              <a:buSzPts val="1800"/>
              <a:buAutoNum type="arabicPeriod"/>
            </a:pPr>
            <a:r>
              <a:rPr lang="es"/>
              <a:t>Ball has slight random movements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s"/>
              <a:t>Causal Variables:</a:t>
            </a:r>
            <a:endParaRPr/>
          </a:p>
          <a:p>
            <a:pPr indent="-342900" lvl="0" marL="457200" rtl="0" algn="l">
              <a:spcBef>
                <a:spcPts val="1200"/>
              </a:spcBef>
              <a:spcAft>
                <a:spcPts val="0"/>
              </a:spcAft>
              <a:buSzPts val="1800"/>
              <a:buChar char="●"/>
            </a:pPr>
            <a:r>
              <a:rPr lang="es"/>
              <a:t>Paddles</a:t>
            </a:r>
            <a:endParaRPr/>
          </a:p>
          <a:p>
            <a:pPr indent="-342900" lvl="0" marL="457200" rtl="0" algn="l">
              <a:spcBef>
                <a:spcPts val="0"/>
              </a:spcBef>
              <a:spcAft>
                <a:spcPts val="0"/>
              </a:spcAft>
              <a:buSzPts val="1800"/>
              <a:buChar char="●"/>
            </a:pPr>
            <a:r>
              <a:rPr lang="es"/>
              <a:t>Ball position</a:t>
            </a:r>
            <a:endParaRPr/>
          </a:p>
          <a:p>
            <a:pPr indent="-342900" lvl="0" marL="457200" rtl="0" algn="l">
              <a:spcBef>
                <a:spcPts val="0"/>
              </a:spcBef>
              <a:spcAft>
                <a:spcPts val="0"/>
              </a:spcAft>
              <a:buSzPts val="1800"/>
              <a:buChar char="●"/>
            </a:pPr>
            <a:r>
              <a:rPr lang="es"/>
              <a:t>Ball velocity</a:t>
            </a:r>
            <a:endParaRPr/>
          </a:p>
          <a:p>
            <a:pPr indent="-342900" lvl="0" marL="457200" rtl="0" algn="l">
              <a:spcBef>
                <a:spcPts val="0"/>
              </a:spcBef>
              <a:spcAft>
                <a:spcPts val="0"/>
              </a:spcAft>
              <a:buSzPts val="1800"/>
              <a:buChar char="●"/>
            </a:pPr>
            <a:r>
              <a:rPr lang="es"/>
              <a:t>Score</a:t>
            </a:r>
            <a:endParaRPr/>
          </a:p>
        </p:txBody>
      </p:sp>
      <p:pic>
        <p:nvPicPr>
          <p:cNvPr id="82" name="Google Shape;82;p17"/>
          <p:cNvPicPr preferRelativeResize="0"/>
          <p:nvPr/>
        </p:nvPicPr>
        <p:blipFill>
          <a:blip r:embed="rId3">
            <a:alphaModFix/>
          </a:blip>
          <a:stretch>
            <a:fillRect/>
          </a:stretch>
        </p:blipFill>
        <p:spPr>
          <a:xfrm>
            <a:off x="4886750" y="1210975"/>
            <a:ext cx="3299425" cy="3299425"/>
          </a:xfrm>
          <a:prstGeom prst="rect">
            <a:avLst/>
          </a:prstGeom>
          <a:noFill/>
          <a:ln>
            <a:noFill/>
          </a:ln>
        </p:spPr>
      </p:pic>
      <p:sp>
        <p:nvSpPr>
          <p:cNvPr id="83" name="Google Shape;83;p17"/>
          <p:cNvSpPr txBox="1"/>
          <p:nvPr/>
        </p:nvSpPr>
        <p:spPr>
          <a:xfrm>
            <a:off x="5186175" y="4568875"/>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u="sng">
                <a:solidFill>
                  <a:schemeClr val="hlink"/>
                </a:solidFill>
                <a:hlinkClick r:id="rId4"/>
              </a:rPr>
              <a:t>https://github.com/phlippe/CITRIS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Limitations of CITRIS</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Requires known targets for interventions</a:t>
            </a:r>
            <a:endParaRPr b="1"/>
          </a:p>
          <a:p>
            <a:pPr indent="0" lvl="0" marL="0" rtl="0" algn="l">
              <a:spcBef>
                <a:spcPts val="1200"/>
              </a:spcBef>
              <a:spcAft>
                <a:spcPts val="0"/>
              </a:spcAft>
              <a:buNone/>
            </a:pPr>
            <a:r>
              <a:rPr lang="es"/>
              <a:t>Explicitly say which causal variable is in action at time step 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s"/>
              <a:t>Works only for controlled simulators</a:t>
            </a:r>
            <a:endParaRPr/>
          </a:p>
          <a:p>
            <a:pPr indent="0" lvl="0" marL="0" rtl="0" algn="l">
              <a:spcBef>
                <a:spcPts val="1200"/>
              </a:spcBef>
              <a:spcAft>
                <a:spcPts val="1200"/>
              </a:spcAft>
              <a:buNone/>
            </a:pPr>
            <a:r>
              <a:rPr lang="es"/>
              <a:t>Longer dependencies may be lost, e.g. is the ball accelerating?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942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BISCUIT: </a:t>
            </a:r>
            <a:r>
              <a:rPr lang="es"/>
              <a:t>Causal Representation Learning from </a:t>
            </a:r>
            <a:r>
              <a:rPr lang="es"/>
              <a:t>Binary Interactions</a:t>
            </a:r>
            <a:endParaRPr/>
          </a:p>
        </p:txBody>
      </p:sp>
      <p:sp>
        <p:nvSpPr>
          <p:cNvPr id="95" name="Google Shape;95;p19"/>
          <p:cNvSpPr txBox="1"/>
          <p:nvPr>
            <p:ph idx="1" type="body"/>
          </p:nvPr>
        </p:nvSpPr>
        <p:spPr>
          <a:xfrm>
            <a:off x="311700" y="1579750"/>
            <a:ext cx="2690700" cy="3129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Can we identify causal variables without knowing the intervention targets?</a:t>
            </a:r>
            <a:endParaRPr/>
          </a:p>
        </p:txBody>
      </p:sp>
      <p:pic>
        <p:nvPicPr>
          <p:cNvPr id="96" name="Google Shape;96;p19"/>
          <p:cNvPicPr preferRelativeResize="0"/>
          <p:nvPr/>
        </p:nvPicPr>
        <p:blipFill>
          <a:blip r:embed="rId3">
            <a:alphaModFix/>
          </a:blip>
          <a:stretch>
            <a:fillRect/>
          </a:stretch>
        </p:blipFill>
        <p:spPr>
          <a:xfrm>
            <a:off x="3251065" y="1455100"/>
            <a:ext cx="5433009" cy="3129324"/>
          </a:xfrm>
          <a:prstGeom prst="rect">
            <a:avLst/>
          </a:prstGeom>
          <a:noFill/>
          <a:ln>
            <a:noFill/>
          </a:ln>
        </p:spPr>
      </p:pic>
      <p:sp>
        <p:nvSpPr>
          <p:cNvPr id="97" name="Google Shape;97;p19"/>
          <p:cNvSpPr txBox="1"/>
          <p:nvPr/>
        </p:nvSpPr>
        <p:spPr>
          <a:xfrm>
            <a:off x="5684075" y="4584425"/>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u="sng">
                <a:solidFill>
                  <a:srgbClr val="467886"/>
                </a:solidFill>
                <a:hlinkClick r:id="rId4">
                  <a:extLst>
                    <a:ext uri="{A12FA001-AC4F-418D-AE19-62706E023703}">
                      <ahyp:hlinkClr val="tx"/>
                    </a:ext>
                  </a:extLst>
                </a:hlinkClick>
              </a:rPr>
              <a:t>https://phlippe.github.io/BISCUIT/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CausalWorld Setup</a:t>
            </a:r>
            <a:endParaRPr/>
          </a:p>
        </p:txBody>
      </p:sp>
      <p:sp>
        <p:nvSpPr>
          <p:cNvPr id="103" name="Google Shape;103;p20"/>
          <p:cNvSpPr txBox="1"/>
          <p:nvPr>
            <p:ph idx="1" type="body"/>
          </p:nvPr>
        </p:nvSpPr>
        <p:spPr>
          <a:xfrm>
            <a:off x="311700" y="1152475"/>
            <a:ext cx="38658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
              <a:t>Causal Factors:</a:t>
            </a:r>
            <a:endParaRPr/>
          </a:p>
          <a:p>
            <a:pPr indent="-342900" lvl="0" marL="457200" rtl="0" algn="l">
              <a:spcBef>
                <a:spcPts val="1200"/>
              </a:spcBef>
              <a:spcAft>
                <a:spcPts val="0"/>
              </a:spcAft>
              <a:buSzPts val="1800"/>
              <a:buChar char="●"/>
            </a:pPr>
            <a:r>
              <a:rPr lang="es"/>
              <a:t>Cube position</a:t>
            </a:r>
            <a:endParaRPr/>
          </a:p>
          <a:p>
            <a:pPr indent="-342900" lvl="0" marL="457200" rtl="0" algn="l">
              <a:spcBef>
                <a:spcPts val="0"/>
              </a:spcBef>
              <a:spcAft>
                <a:spcPts val="0"/>
              </a:spcAft>
              <a:buSzPts val="1800"/>
              <a:buChar char="●"/>
            </a:pPr>
            <a:r>
              <a:rPr lang="es"/>
              <a:t>Cube velocity</a:t>
            </a:r>
            <a:endParaRPr/>
          </a:p>
          <a:p>
            <a:pPr indent="-342900" lvl="0" marL="457200" rtl="0" algn="l">
              <a:spcBef>
                <a:spcPts val="0"/>
              </a:spcBef>
              <a:spcAft>
                <a:spcPts val="0"/>
              </a:spcAft>
              <a:buSzPts val="1800"/>
              <a:buChar char="●"/>
            </a:pPr>
            <a:r>
              <a:rPr lang="es"/>
              <a:t>Cube rotation</a:t>
            </a:r>
            <a:endParaRPr/>
          </a:p>
          <a:p>
            <a:pPr indent="-342900" lvl="0" marL="457200" rtl="0" algn="l">
              <a:spcBef>
                <a:spcPts val="0"/>
              </a:spcBef>
              <a:spcAft>
                <a:spcPts val="0"/>
              </a:spcAft>
              <a:buSzPts val="1800"/>
              <a:buChar char="●"/>
            </a:pPr>
            <a:r>
              <a:rPr lang="es"/>
              <a:t>Robot arms</a:t>
            </a:r>
            <a:endParaRPr/>
          </a:p>
          <a:p>
            <a:pPr indent="-342900" lvl="0" marL="457200" rtl="0" algn="l">
              <a:spcBef>
                <a:spcPts val="0"/>
              </a:spcBef>
              <a:spcAft>
                <a:spcPts val="0"/>
              </a:spcAft>
              <a:buSzPts val="1800"/>
              <a:buChar char="●"/>
            </a:pPr>
            <a:r>
              <a:rPr lang="es"/>
              <a:t>Friction</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s"/>
              <a:t>In the original setup, information on velocity is encoded in the dataset (difference in frames). </a:t>
            </a:r>
            <a:endParaRPr/>
          </a:p>
        </p:txBody>
      </p:sp>
      <p:pic>
        <p:nvPicPr>
          <p:cNvPr id="104" name="Google Shape;104;p20"/>
          <p:cNvPicPr preferRelativeResize="0"/>
          <p:nvPr/>
        </p:nvPicPr>
        <p:blipFill>
          <a:blip r:embed="rId3">
            <a:alphaModFix/>
          </a:blip>
          <a:stretch>
            <a:fillRect/>
          </a:stretch>
        </p:blipFill>
        <p:spPr>
          <a:xfrm>
            <a:off x="4133703" y="906075"/>
            <a:ext cx="4168447" cy="3416401"/>
          </a:xfrm>
          <a:prstGeom prst="rect">
            <a:avLst/>
          </a:prstGeom>
          <a:noFill/>
          <a:ln>
            <a:noFill/>
          </a:ln>
        </p:spPr>
      </p:pic>
      <p:sp>
        <p:nvSpPr>
          <p:cNvPr id="105" name="Google Shape;105;p20"/>
          <p:cNvSpPr txBox="1"/>
          <p:nvPr/>
        </p:nvSpPr>
        <p:spPr>
          <a:xfrm>
            <a:off x="5302150" y="4703625"/>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u="sng">
                <a:solidFill>
                  <a:srgbClr val="467886"/>
                </a:solidFill>
                <a:hlinkClick r:id="rId4">
                  <a:extLst>
                    <a:ext uri="{A12FA001-AC4F-418D-AE19-62706E023703}">
                      <ahyp:hlinkClr val="tx"/>
                    </a:ext>
                  </a:extLst>
                </a:hlinkClick>
              </a:rPr>
              <a:t>https://phlippe.github.io/BISCUIT/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BISCUIT Replication</a:t>
            </a:r>
            <a:endParaRPr/>
          </a:p>
        </p:txBody>
      </p:sp>
      <p:sp>
        <p:nvSpPr>
          <p:cNvPr id="111" name="Google Shape;111;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
              <a:t>Using the CausalWorld dataset:</a:t>
            </a:r>
            <a:endParaRPr/>
          </a:p>
          <a:p>
            <a:pPr indent="0" lvl="0" marL="0" rtl="0" algn="l">
              <a:spcBef>
                <a:spcPts val="1200"/>
              </a:spcBef>
              <a:spcAft>
                <a:spcPts val="0"/>
              </a:spcAft>
              <a:buNone/>
            </a:pPr>
            <a:r>
              <a:rPr lang="es"/>
              <a:t>Setup the environment with respective packages and versions.</a:t>
            </a:r>
            <a:endParaRPr/>
          </a:p>
          <a:p>
            <a:pPr indent="0" lvl="0" marL="0" rtl="0" algn="l">
              <a:spcBef>
                <a:spcPts val="1200"/>
              </a:spcBef>
              <a:spcAft>
                <a:spcPts val="0"/>
              </a:spcAft>
              <a:buNone/>
            </a:pPr>
            <a:r>
              <a:rPr lang="es"/>
              <a:t>Download data for CausalWorld experiment as well as trained autoencoder</a:t>
            </a:r>
            <a:endParaRPr/>
          </a:p>
          <a:p>
            <a:pPr indent="0" lvl="0" marL="0" rtl="0" algn="l">
              <a:spcBef>
                <a:spcPts val="1200"/>
              </a:spcBef>
              <a:spcAft>
                <a:spcPts val="0"/>
              </a:spcAft>
              <a:buNone/>
            </a:pPr>
            <a:r>
              <a:rPr lang="es"/>
              <a:t>Pass the original data through the autoencoder and then train the normalizing flow.</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s"/>
              <a:t>Achieved</a:t>
            </a:r>
            <a:r>
              <a:rPr lang="es"/>
              <a:t> average diagonal R^2 score of </a:t>
            </a:r>
            <a:r>
              <a:rPr b="1" lang="es"/>
              <a:t>0.9678</a:t>
            </a:r>
            <a:endParaRPr b="1"/>
          </a:p>
          <a:p>
            <a:pPr indent="0" lvl="0" marL="0" rtl="0" algn="l">
              <a:spcBef>
                <a:spcPts val="1200"/>
              </a:spcBef>
              <a:spcAft>
                <a:spcPts val="1200"/>
              </a:spcAft>
              <a:buNone/>
            </a:pPr>
            <a:r>
              <a:rPr lang="es"/>
              <a:t>Corroborating the original papers baseline R^2 = 0.97.</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Proposed Extension</a:t>
            </a:r>
            <a:endParaRPr/>
          </a:p>
        </p:txBody>
      </p:sp>
      <p:sp>
        <p:nvSpPr>
          <p:cNvPr id="117" name="Google Shape;117;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a:t>Standard framework for CITRIS and BISCUIT assumes that the previous </a:t>
            </a:r>
            <a:r>
              <a:rPr lang="es"/>
              <a:t>frame</a:t>
            </a:r>
            <a:r>
              <a:rPr lang="es"/>
              <a:t> contains everything needed to predict and understand the second frame:</a:t>
            </a:r>
            <a:endParaRPr/>
          </a:p>
          <a:p>
            <a:pPr indent="457200" lvl="0" marL="3200400" rtl="0" algn="l">
              <a:spcBef>
                <a:spcPts val="1200"/>
              </a:spcBef>
              <a:spcAft>
                <a:spcPts val="0"/>
              </a:spcAft>
              <a:buNone/>
            </a:pPr>
            <a:r>
              <a:rPr lang="es"/>
              <a:t>X</a:t>
            </a:r>
            <a:r>
              <a:rPr baseline="30000" lang="es"/>
              <a:t>t-1</a:t>
            </a:r>
            <a:r>
              <a:rPr lang="es"/>
              <a:t> → X</a:t>
            </a:r>
            <a:r>
              <a:rPr baseline="30000" lang="es"/>
              <a:t>t</a:t>
            </a:r>
            <a:endParaRPr baseline="30000"/>
          </a:p>
          <a:p>
            <a:pPr indent="0" lvl="0" marL="0" rtl="0" algn="l">
              <a:spcBef>
                <a:spcPts val="1200"/>
              </a:spcBef>
              <a:spcAft>
                <a:spcPts val="0"/>
              </a:spcAft>
              <a:buNone/>
            </a:pPr>
            <a:r>
              <a:t/>
            </a:r>
            <a:endParaRPr/>
          </a:p>
          <a:p>
            <a:pPr indent="0" lvl="0" marL="0" rtl="0" algn="l">
              <a:spcBef>
                <a:spcPts val="1200"/>
              </a:spcBef>
              <a:spcAft>
                <a:spcPts val="0"/>
              </a:spcAft>
              <a:buNone/>
            </a:pPr>
            <a:r>
              <a:rPr lang="es"/>
              <a:t>If we concatenate more than one historical latent, does the model remain robust? Can the model </a:t>
            </a:r>
            <a:r>
              <a:rPr lang="es"/>
              <a:t>intrinsically</a:t>
            </a:r>
            <a:r>
              <a:rPr lang="es"/>
              <a:t> learn temporal dynamics?</a:t>
            </a:r>
            <a:endParaRPr/>
          </a:p>
          <a:p>
            <a:pPr indent="457200" lvl="0" marL="2743200" rtl="0" algn="l">
              <a:spcBef>
                <a:spcPts val="1200"/>
              </a:spcBef>
              <a:spcAft>
                <a:spcPts val="0"/>
              </a:spcAft>
              <a:buClr>
                <a:schemeClr val="dk1"/>
              </a:buClr>
              <a:buSzPts val="1100"/>
              <a:buFont typeface="Arial"/>
              <a:buNone/>
            </a:pPr>
            <a:r>
              <a:rPr lang="es"/>
              <a:t>…, </a:t>
            </a:r>
            <a:r>
              <a:rPr lang="es"/>
              <a:t>X</a:t>
            </a:r>
            <a:r>
              <a:rPr baseline="30000" lang="es"/>
              <a:t>t-2</a:t>
            </a:r>
            <a:r>
              <a:rPr lang="es"/>
              <a:t>, X</a:t>
            </a:r>
            <a:r>
              <a:rPr baseline="30000" lang="es"/>
              <a:t>t-1</a:t>
            </a:r>
            <a:r>
              <a:rPr lang="es"/>
              <a:t> → X</a:t>
            </a:r>
            <a:r>
              <a:rPr baseline="30000" lang="es"/>
              <a:t>t</a:t>
            </a:r>
            <a:endParaRPr baseline="30000"/>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idx="1" type="body"/>
          </p:nvPr>
        </p:nvSpPr>
        <p:spPr>
          <a:xfrm>
            <a:off x="311700" y="25717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to:</a:t>
            </a:r>
            <a:endParaRPr/>
          </a:p>
        </p:txBody>
      </p:sp>
      <p:sp>
        <p:nvSpPr>
          <p:cNvPr id="123" name="Google Shape;12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CITRIS Experiment</a:t>
            </a:r>
            <a:endParaRPr/>
          </a:p>
        </p:txBody>
      </p:sp>
      <p:sp>
        <p:nvSpPr>
          <p:cNvPr id="124" name="Google Shape;124;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We want to go from:</a:t>
            </a:r>
            <a:endParaRPr/>
          </a:p>
        </p:txBody>
      </p:sp>
      <p:sp>
        <p:nvSpPr>
          <p:cNvPr id="125" name="Google Shape;125;p23"/>
          <p:cNvSpPr txBox="1"/>
          <p:nvPr/>
        </p:nvSpPr>
        <p:spPr>
          <a:xfrm>
            <a:off x="534675" y="1741600"/>
            <a:ext cx="7989000" cy="83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3300">
                <a:solidFill>
                  <a:schemeClr val="dk2"/>
                </a:solidFill>
                <a:latin typeface="Times New Roman"/>
                <a:ea typeface="Times New Roman"/>
                <a:cs typeface="Times New Roman"/>
                <a:sym typeface="Times New Roman"/>
              </a:rPr>
              <a:t>p(z</a:t>
            </a:r>
            <a:r>
              <a:rPr baseline="30000" lang="es" sz="3300">
                <a:solidFill>
                  <a:schemeClr val="dk2"/>
                </a:solidFill>
                <a:latin typeface="Times New Roman"/>
                <a:ea typeface="Times New Roman"/>
                <a:cs typeface="Times New Roman"/>
                <a:sym typeface="Times New Roman"/>
              </a:rPr>
              <a:t>t</a:t>
            </a:r>
            <a:r>
              <a:rPr lang="es" sz="3300">
                <a:solidFill>
                  <a:schemeClr val="dk2"/>
                </a:solidFill>
                <a:latin typeface="Times New Roman"/>
                <a:ea typeface="Times New Roman"/>
                <a:cs typeface="Times New Roman"/>
                <a:sym typeface="Times New Roman"/>
              </a:rPr>
              <a:t>|z</a:t>
            </a:r>
            <a:r>
              <a:rPr baseline="30000" lang="es" sz="3300">
                <a:solidFill>
                  <a:schemeClr val="dk2"/>
                </a:solidFill>
                <a:latin typeface="Times New Roman"/>
                <a:ea typeface="Times New Roman"/>
                <a:cs typeface="Times New Roman"/>
                <a:sym typeface="Times New Roman"/>
              </a:rPr>
              <a:t>t-1</a:t>
            </a:r>
            <a:r>
              <a:rPr lang="es" sz="3300">
                <a:solidFill>
                  <a:schemeClr val="dk2"/>
                </a:solidFill>
                <a:latin typeface="Times New Roman"/>
                <a:ea typeface="Times New Roman"/>
                <a:cs typeface="Times New Roman"/>
                <a:sym typeface="Times New Roman"/>
              </a:rPr>
              <a:t>, I</a:t>
            </a:r>
            <a:r>
              <a:rPr baseline="30000" lang="es" sz="3300">
                <a:solidFill>
                  <a:schemeClr val="dk2"/>
                </a:solidFill>
                <a:latin typeface="Times New Roman"/>
                <a:ea typeface="Times New Roman"/>
                <a:cs typeface="Times New Roman"/>
                <a:sym typeface="Times New Roman"/>
              </a:rPr>
              <a:t>t</a:t>
            </a:r>
            <a:r>
              <a:rPr lang="es" sz="3300">
                <a:solidFill>
                  <a:schemeClr val="dk2"/>
                </a:solidFill>
                <a:latin typeface="Times New Roman"/>
                <a:ea typeface="Times New Roman"/>
                <a:cs typeface="Times New Roman"/>
                <a:sym typeface="Times New Roman"/>
              </a:rPr>
              <a:t>)</a:t>
            </a:r>
            <a:endParaRPr sz="3300">
              <a:solidFill>
                <a:schemeClr val="dk2"/>
              </a:solidFill>
              <a:latin typeface="Times New Roman"/>
              <a:ea typeface="Times New Roman"/>
              <a:cs typeface="Times New Roman"/>
              <a:sym typeface="Times New Roman"/>
            </a:endParaRPr>
          </a:p>
        </p:txBody>
      </p:sp>
      <p:sp>
        <p:nvSpPr>
          <p:cNvPr id="126" name="Google Shape;126;p23"/>
          <p:cNvSpPr txBox="1"/>
          <p:nvPr/>
        </p:nvSpPr>
        <p:spPr>
          <a:xfrm>
            <a:off x="577500" y="3363575"/>
            <a:ext cx="7989000" cy="83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3300">
                <a:solidFill>
                  <a:schemeClr val="dk2"/>
                </a:solidFill>
                <a:latin typeface="Times New Roman"/>
                <a:ea typeface="Times New Roman"/>
                <a:cs typeface="Times New Roman"/>
                <a:sym typeface="Times New Roman"/>
              </a:rPr>
              <a:t>p(z</a:t>
            </a:r>
            <a:r>
              <a:rPr baseline="30000" lang="es" sz="3300">
                <a:solidFill>
                  <a:schemeClr val="dk2"/>
                </a:solidFill>
                <a:latin typeface="Times New Roman"/>
                <a:ea typeface="Times New Roman"/>
                <a:cs typeface="Times New Roman"/>
                <a:sym typeface="Times New Roman"/>
              </a:rPr>
              <a:t>t</a:t>
            </a:r>
            <a:r>
              <a:rPr lang="es" sz="3300">
                <a:solidFill>
                  <a:schemeClr val="dk2"/>
                </a:solidFill>
                <a:latin typeface="Times New Roman"/>
                <a:ea typeface="Times New Roman"/>
                <a:cs typeface="Times New Roman"/>
                <a:sym typeface="Times New Roman"/>
              </a:rPr>
              <a:t>|z</a:t>
            </a:r>
            <a:r>
              <a:rPr baseline="30000" lang="es" sz="3300">
                <a:solidFill>
                  <a:schemeClr val="dk2"/>
                </a:solidFill>
                <a:latin typeface="Times New Roman"/>
                <a:ea typeface="Times New Roman"/>
                <a:cs typeface="Times New Roman"/>
                <a:sym typeface="Times New Roman"/>
              </a:rPr>
              <a:t>t-1</a:t>
            </a:r>
            <a:r>
              <a:rPr lang="es" sz="3300">
                <a:solidFill>
                  <a:schemeClr val="dk2"/>
                </a:solidFill>
                <a:latin typeface="Times New Roman"/>
                <a:ea typeface="Times New Roman"/>
                <a:cs typeface="Times New Roman"/>
                <a:sym typeface="Times New Roman"/>
              </a:rPr>
              <a:t>, z</a:t>
            </a:r>
            <a:r>
              <a:rPr baseline="30000" lang="es" sz="3300">
                <a:solidFill>
                  <a:schemeClr val="dk2"/>
                </a:solidFill>
                <a:latin typeface="Times New Roman"/>
                <a:ea typeface="Times New Roman"/>
                <a:cs typeface="Times New Roman"/>
                <a:sym typeface="Times New Roman"/>
              </a:rPr>
              <a:t>t-2</a:t>
            </a:r>
            <a:r>
              <a:rPr lang="es" sz="3300">
                <a:solidFill>
                  <a:schemeClr val="dk2"/>
                </a:solidFill>
                <a:latin typeface="Times New Roman"/>
                <a:ea typeface="Times New Roman"/>
                <a:cs typeface="Times New Roman"/>
                <a:sym typeface="Times New Roman"/>
              </a:rPr>
              <a:t>,...,z</a:t>
            </a:r>
            <a:r>
              <a:rPr baseline="30000" lang="es" sz="3300">
                <a:solidFill>
                  <a:schemeClr val="dk2"/>
                </a:solidFill>
                <a:latin typeface="Times New Roman"/>
                <a:ea typeface="Times New Roman"/>
                <a:cs typeface="Times New Roman"/>
                <a:sym typeface="Times New Roman"/>
              </a:rPr>
              <a:t>t-k</a:t>
            </a:r>
            <a:r>
              <a:rPr lang="es" sz="3300">
                <a:solidFill>
                  <a:schemeClr val="dk2"/>
                </a:solidFill>
                <a:latin typeface="Times New Roman"/>
                <a:ea typeface="Times New Roman"/>
                <a:cs typeface="Times New Roman"/>
                <a:sym typeface="Times New Roman"/>
              </a:rPr>
              <a:t>, I</a:t>
            </a:r>
            <a:r>
              <a:rPr baseline="30000" lang="es" sz="3300">
                <a:solidFill>
                  <a:schemeClr val="dk2"/>
                </a:solidFill>
                <a:latin typeface="Times New Roman"/>
                <a:ea typeface="Times New Roman"/>
                <a:cs typeface="Times New Roman"/>
                <a:sym typeface="Times New Roman"/>
              </a:rPr>
              <a:t>t</a:t>
            </a:r>
            <a:r>
              <a:rPr lang="es" sz="3300">
                <a:solidFill>
                  <a:schemeClr val="dk2"/>
                </a:solidFill>
                <a:latin typeface="Times New Roman"/>
                <a:ea typeface="Times New Roman"/>
                <a:cs typeface="Times New Roman"/>
                <a:sym typeface="Times New Roman"/>
              </a:rPr>
              <a:t>)</a:t>
            </a:r>
            <a:endParaRPr sz="3300">
              <a:solidFill>
                <a:schemeClr val="dk2"/>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CITRIS Experiment - Setup</a:t>
            </a:r>
            <a:endParaRPr/>
          </a:p>
        </p:txBody>
      </p:sp>
      <p:sp>
        <p:nvSpPr>
          <p:cNvPr id="132" name="Google Shape;132;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Working on CITRIS-VAE.</a:t>
            </a:r>
            <a:endParaRPr/>
          </a:p>
          <a:p>
            <a:pPr indent="0" lvl="0" marL="0" rtl="0" algn="l">
              <a:spcBef>
                <a:spcPts val="1200"/>
              </a:spcBef>
              <a:spcAft>
                <a:spcPts val="0"/>
              </a:spcAft>
              <a:buNone/>
            </a:pPr>
            <a:r>
              <a:rPr lang="es"/>
              <a:t>Interventional Pong Dataset.</a:t>
            </a:r>
            <a:endParaRPr/>
          </a:p>
          <a:p>
            <a:pPr indent="0" lvl="0" marL="0" rtl="0" algn="l">
              <a:spcBef>
                <a:spcPts val="1200"/>
              </a:spcBef>
              <a:spcAft>
                <a:spcPts val="0"/>
              </a:spcAft>
              <a:buNone/>
            </a:pPr>
            <a:r>
              <a:rPr lang="es"/>
              <a:t>Added configurable history length parameter.</a:t>
            </a:r>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CITRIS Experiment - Evaluation metrics</a:t>
            </a:r>
            <a:endParaRPr/>
          </a:p>
        </p:txBody>
      </p:sp>
      <p:sp>
        <p:nvSpPr>
          <p:cNvPr id="138" name="Google Shape;138;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Metrics from the CITRIS paper:</a:t>
            </a:r>
            <a:endParaRPr/>
          </a:p>
        </p:txBody>
      </p:sp>
      <p:pic>
        <p:nvPicPr>
          <p:cNvPr id="139" name="Google Shape;139;p25"/>
          <p:cNvPicPr preferRelativeResize="0"/>
          <p:nvPr/>
        </p:nvPicPr>
        <p:blipFill>
          <a:blip r:embed="rId3">
            <a:alphaModFix/>
          </a:blip>
          <a:stretch>
            <a:fillRect/>
          </a:stretch>
        </p:blipFill>
        <p:spPr>
          <a:xfrm>
            <a:off x="1562100" y="1871663"/>
            <a:ext cx="6019800" cy="1400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CITRIS Experiment - Results</a:t>
            </a:r>
            <a:endParaRPr/>
          </a:p>
        </p:txBody>
      </p:sp>
      <p:sp>
        <p:nvSpPr>
          <p:cNvPr id="145" name="Google Shape;145;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6" name="Google Shape;146;p26"/>
          <p:cNvPicPr preferRelativeResize="0"/>
          <p:nvPr/>
        </p:nvPicPr>
        <p:blipFill rotWithShape="1">
          <a:blip r:embed="rId3">
            <a:alphaModFix/>
          </a:blip>
          <a:srcRect b="0" l="0" r="14923" t="0"/>
          <a:stretch/>
        </p:blipFill>
        <p:spPr>
          <a:xfrm>
            <a:off x="682313" y="1308925"/>
            <a:ext cx="7779376" cy="1597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p27" title="history_2_r2_heatmap.png"/>
          <p:cNvPicPr preferRelativeResize="0"/>
          <p:nvPr/>
        </p:nvPicPr>
        <p:blipFill>
          <a:blip r:embed="rId3">
            <a:alphaModFix/>
          </a:blip>
          <a:stretch>
            <a:fillRect/>
          </a:stretch>
        </p:blipFill>
        <p:spPr>
          <a:xfrm>
            <a:off x="4921775" y="696750"/>
            <a:ext cx="3557392" cy="2223370"/>
          </a:xfrm>
          <a:prstGeom prst="rect">
            <a:avLst/>
          </a:prstGeom>
          <a:noFill/>
          <a:ln>
            <a:noFill/>
          </a:ln>
        </p:spPr>
      </p:pic>
      <p:pic>
        <p:nvPicPr>
          <p:cNvPr id="152" name="Google Shape;152;p27" title="history_3_r2_heatmap.png"/>
          <p:cNvPicPr preferRelativeResize="0"/>
          <p:nvPr/>
        </p:nvPicPr>
        <p:blipFill>
          <a:blip r:embed="rId4">
            <a:alphaModFix/>
          </a:blip>
          <a:stretch>
            <a:fillRect/>
          </a:stretch>
        </p:blipFill>
        <p:spPr>
          <a:xfrm>
            <a:off x="906448" y="2920130"/>
            <a:ext cx="3557392" cy="2223370"/>
          </a:xfrm>
          <a:prstGeom prst="rect">
            <a:avLst/>
          </a:prstGeom>
          <a:noFill/>
          <a:ln>
            <a:noFill/>
          </a:ln>
        </p:spPr>
      </p:pic>
      <p:pic>
        <p:nvPicPr>
          <p:cNvPr id="153" name="Google Shape;153;p27" title="history_4_r2_heatmap.png"/>
          <p:cNvPicPr preferRelativeResize="0"/>
          <p:nvPr/>
        </p:nvPicPr>
        <p:blipFill>
          <a:blip r:embed="rId5">
            <a:alphaModFix/>
          </a:blip>
          <a:stretch>
            <a:fillRect/>
          </a:stretch>
        </p:blipFill>
        <p:spPr>
          <a:xfrm>
            <a:off x="4921784" y="2920130"/>
            <a:ext cx="3557392" cy="2223370"/>
          </a:xfrm>
          <a:prstGeom prst="rect">
            <a:avLst/>
          </a:prstGeom>
          <a:noFill/>
          <a:ln>
            <a:noFill/>
          </a:ln>
        </p:spPr>
      </p:pic>
      <p:pic>
        <p:nvPicPr>
          <p:cNvPr id="154" name="Google Shape;154;p27" title="history_1_r2_heatmap.png"/>
          <p:cNvPicPr preferRelativeResize="0"/>
          <p:nvPr/>
        </p:nvPicPr>
        <p:blipFill>
          <a:blip r:embed="rId6">
            <a:alphaModFix/>
          </a:blip>
          <a:stretch>
            <a:fillRect/>
          </a:stretch>
        </p:blipFill>
        <p:spPr>
          <a:xfrm>
            <a:off x="906448" y="696750"/>
            <a:ext cx="3557392" cy="2223370"/>
          </a:xfrm>
          <a:prstGeom prst="rect">
            <a:avLst/>
          </a:prstGeom>
          <a:noFill/>
          <a:ln>
            <a:noFill/>
          </a:ln>
        </p:spPr>
      </p:pic>
      <p:sp>
        <p:nvSpPr>
          <p:cNvPr id="155" name="Google Shape;155;p27"/>
          <p:cNvSpPr txBox="1"/>
          <p:nvPr>
            <p:ph type="title"/>
          </p:nvPr>
        </p:nvSpPr>
        <p:spPr>
          <a:xfrm>
            <a:off x="497550" y="124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CITRIS Experiment - Results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28" title="r2_training_comparison.png"/>
          <p:cNvPicPr preferRelativeResize="0"/>
          <p:nvPr/>
        </p:nvPicPr>
        <p:blipFill>
          <a:blip r:embed="rId3">
            <a:alphaModFix/>
          </a:blip>
          <a:stretch>
            <a:fillRect/>
          </a:stretch>
        </p:blipFill>
        <p:spPr>
          <a:xfrm>
            <a:off x="1218325" y="0"/>
            <a:ext cx="7200900"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BISCUIT Experiment</a:t>
            </a:r>
            <a:endParaRPr/>
          </a:p>
        </p:txBody>
      </p:sp>
      <p:sp>
        <p:nvSpPr>
          <p:cNvPr id="166" name="Google Shape;166;p29"/>
          <p:cNvSpPr txBox="1"/>
          <p:nvPr>
            <p:ph idx="1" type="body"/>
          </p:nvPr>
        </p:nvSpPr>
        <p:spPr>
          <a:xfrm>
            <a:off x="311700" y="1251325"/>
            <a:ext cx="8520600" cy="3635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Adding a concatenated input to the BISCUIT model and adjusting it so it can process it and train using the same </a:t>
            </a:r>
            <a:r>
              <a:rPr lang="es"/>
              <a:t>architecture</a:t>
            </a:r>
            <a:r>
              <a:rPr lang="es"/>
              <a:t>.</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s"/>
              <a:t>Extending the temporal horizon does not cause the Normalizing Flow to entangle the representation</a:t>
            </a:r>
            <a:r>
              <a:rPr lang="es"/>
              <a:t>s. It preserved the true causal isolation. However temporal dynamics data is still embedded in the input.</a:t>
            </a:r>
            <a:endParaRPr/>
          </a:p>
        </p:txBody>
      </p:sp>
      <p:graphicFrame>
        <p:nvGraphicFramePr>
          <p:cNvPr id="167" name="Google Shape;167;p29"/>
          <p:cNvGraphicFramePr/>
          <p:nvPr/>
        </p:nvGraphicFramePr>
        <p:xfrm>
          <a:off x="814463" y="2392925"/>
          <a:ext cx="3000000" cy="3000000"/>
        </p:xfrm>
        <a:graphic>
          <a:graphicData uri="http://schemas.openxmlformats.org/drawingml/2006/table">
            <a:tbl>
              <a:tblPr>
                <a:noFill/>
                <a:tableStyleId>{A264492C-CAF0-4378-8BD9-8C47725FF58D}</a:tableStyleId>
              </a:tblPr>
              <a:tblGrid>
                <a:gridCol w="2505025"/>
                <a:gridCol w="2505025"/>
                <a:gridCol w="2505025"/>
              </a:tblGrid>
              <a:tr h="330825">
                <a:tc>
                  <a:txBody>
                    <a:bodyPr/>
                    <a:lstStyle/>
                    <a:p>
                      <a:pPr indent="0" lvl="0" marL="0" rtl="0" algn="l">
                        <a:spcBef>
                          <a:spcPts val="0"/>
                        </a:spcBef>
                        <a:spcAft>
                          <a:spcPts val="0"/>
                        </a:spcAft>
                        <a:buNone/>
                      </a:pPr>
                      <a:r>
                        <a:rPr b="1" lang="es">
                          <a:latin typeface="Times New Roman"/>
                          <a:ea typeface="Times New Roman"/>
                          <a:cs typeface="Times New Roman"/>
                          <a:sym typeface="Times New Roman"/>
                        </a:rPr>
                        <a:t>Model</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s">
                          <a:latin typeface="Times New Roman"/>
                          <a:ea typeface="Times New Roman"/>
                          <a:cs typeface="Times New Roman"/>
                          <a:sym typeface="Times New Roman"/>
                        </a:rPr>
                        <a:t>Baseline</a:t>
                      </a:r>
                      <a:r>
                        <a:rPr lang="es">
                          <a:latin typeface="Times New Roman"/>
                          <a:ea typeface="Times New Roman"/>
                          <a:cs typeface="Times New Roman"/>
                          <a:sym typeface="Times New Roman"/>
                        </a:rPr>
                        <a:t> </a:t>
                      </a:r>
                      <a:r>
                        <a:rPr lang="es" sz="1600">
                          <a:solidFill>
                            <a:schemeClr val="dk1"/>
                          </a:solidFill>
                          <a:latin typeface="Times New Roman"/>
                          <a:ea typeface="Times New Roman"/>
                          <a:cs typeface="Times New Roman"/>
                          <a:sym typeface="Times New Roman"/>
                        </a:rPr>
                        <a:t>x</a:t>
                      </a:r>
                      <a:r>
                        <a:rPr baseline="30000" lang="es" sz="1600">
                          <a:solidFill>
                            <a:schemeClr val="dk1"/>
                          </a:solidFill>
                          <a:latin typeface="Times New Roman"/>
                          <a:ea typeface="Times New Roman"/>
                          <a:cs typeface="Times New Roman"/>
                          <a:sym typeface="Times New Roman"/>
                        </a:rPr>
                        <a:t>t</a:t>
                      </a:r>
                      <a:r>
                        <a:rPr lang="es" sz="1600">
                          <a:solidFill>
                            <a:schemeClr val="dk1"/>
                          </a:solidFill>
                          <a:latin typeface="Times New Roman"/>
                          <a:ea typeface="Times New Roman"/>
                          <a:cs typeface="Times New Roman"/>
                          <a:sym typeface="Times New Roman"/>
                        </a:rPr>
                        <a:t>, x</a:t>
                      </a:r>
                      <a:r>
                        <a:rPr baseline="30000" lang="es" sz="1600">
                          <a:solidFill>
                            <a:schemeClr val="dk1"/>
                          </a:solidFill>
                          <a:latin typeface="Times New Roman"/>
                          <a:ea typeface="Times New Roman"/>
                          <a:cs typeface="Times New Roman"/>
                          <a:sym typeface="Times New Roman"/>
                        </a:rPr>
                        <a:t>t-1</a:t>
                      </a:r>
                      <a:r>
                        <a:rPr lang="es" sz="1600">
                          <a:solidFill>
                            <a:schemeClr val="dk1"/>
                          </a:solidFill>
                          <a:latin typeface="Times New Roman"/>
                          <a:ea typeface="Times New Roman"/>
                          <a:cs typeface="Times New Roman"/>
                          <a:sym typeface="Times New Roman"/>
                        </a:rPr>
                        <a:t>, I</a:t>
                      </a:r>
                      <a:r>
                        <a:rPr baseline="30000" lang="es" sz="1600">
                          <a:solidFill>
                            <a:schemeClr val="dk1"/>
                          </a:solidFill>
                          <a:latin typeface="Times New Roman"/>
                          <a:ea typeface="Times New Roman"/>
                          <a:cs typeface="Times New Roman"/>
                          <a:sym typeface="Times New Roman"/>
                        </a:rPr>
                        <a:t>t</a:t>
                      </a:r>
                      <a:endParaRPr baseline="30000" sz="16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s">
                          <a:latin typeface="Times New Roman"/>
                          <a:ea typeface="Times New Roman"/>
                          <a:cs typeface="Times New Roman"/>
                          <a:sym typeface="Times New Roman"/>
                        </a:rPr>
                        <a:t>Proposed</a:t>
                      </a:r>
                      <a:r>
                        <a:rPr lang="es">
                          <a:latin typeface="Times New Roman"/>
                          <a:ea typeface="Times New Roman"/>
                          <a:cs typeface="Times New Roman"/>
                          <a:sym typeface="Times New Roman"/>
                        </a:rPr>
                        <a:t> </a:t>
                      </a:r>
                      <a:r>
                        <a:rPr lang="es" sz="1600">
                          <a:solidFill>
                            <a:schemeClr val="dk1"/>
                          </a:solidFill>
                          <a:latin typeface="Times New Roman"/>
                          <a:ea typeface="Times New Roman"/>
                          <a:cs typeface="Times New Roman"/>
                          <a:sym typeface="Times New Roman"/>
                        </a:rPr>
                        <a:t>x</a:t>
                      </a:r>
                      <a:r>
                        <a:rPr baseline="30000" lang="es" sz="1600">
                          <a:solidFill>
                            <a:schemeClr val="dk1"/>
                          </a:solidFill>
                          <a:latin typeface="Times New Roman"/>
                          <a:ea typeface="Times New Roman"/>
                          <a:cs typeface="Times New Roman"/>
                          <a:sym typeface="Times New Roman"/>
                        </a:rPr>
                        <a:t>t</a:t>
                      </a:r>
                      <a:r>
                        <a:rPr lang="es" sz="1600">
                          <a:solidFill>
                            <a:schemeClr val="dk1"/>
                          </a:solidFill>
                          <a:latin typeface="Times New Roman"/>
                          <a:ea typeface="Times New Roman"/>
                          <a:cs typeface="Times New Roman"/>
                          <a:sym typeface="Times New Roman"/>
                        </a:rPr>
                        <a:t>, x</a:t>
                      </a:r>
                      <a:r>
                        <a:rPr baseline="30000" lang="es" sz="1600">
                          <a:solidFill>
                            <a:schemeClr val="dk1"/>
                          </a:solidFill>
                          <a:latin typeface="Times New Roman"/>
                          <a:ea typeface="Times New Roman"/>
                          <a:cs typeface="Times New Roman"/>
                          <a:sym typeface="Times New Roman"/>
                        </a:rPr>
                        <a:t>t-1</a:t>
                      </a:r>
                      <a:r>
                        <a:rPr lang="es" sz="1600">
                          <a:solidFill>
                            <a:schemeClr val="dk1"/>
                          </a:solidFill>
                          <a:latin typeface="Times New Roman"/>
                          <a:ea typeface="Times New Roman"/>
                          <a:cs typeface="Times New Roman"/>
                          <a:sym typeface="Times New Roman"/>
                        </a:rPr>
                        <a:t>,x</a:t>
                      </a:r>
                      <a:r>
                        <a:rPr baseline="30000" lang="es" sz="1600">
                          <a:solidFill>
                            <a:schemeClr val="dk1"/>
                          </a:solidFill>
                          <a:latin typeface="Times New Roman"/>
                          <a:ea typeface="Times New Roman"/>
                          <a:cs typeface="Times New Roman"/>
                          <a:sym typeface="Times New Roman"/>
                        </a:rPr>
                        <a:t>t-2</a:t>
                      </a:r>
                      <a:r>
                        <a:rPr lang="es" sz="1600">
                          <a:solidFill>
                            <a:schemeClr val="dk1"/>
                          </a:solidFill>
                          <a:latin typeface="Times New Roman"/>
                          <a:ea typeface="Times New Roman"/>
                          <a:cs typeface="Times New Roman"/>
                          <a:sym typeface="Times New Roman"/>
                        </a:rPr>
                        <a:t>, I</a:t>
                      </a:r>
                      <a:r>
                        <a:rPr baseline="30000" lang="es" sz="1600">
                          <a:solidFill>
                            <a:schemeClr val="dk1"/>
                          </a:solidFill>
                          <a:latin typeface="Times New Roman"/>
                          <a:ea typeface="Times New Roman"/>
                          <a:cs typeface="Times New Roman"/>
                          <a:sym typeface="Times New Roman"/>
                        </a:rPr>
                        <a:t>t</a:t>
                      </a:r>
                      <a:endParaRPr>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s">
                          <a:latin typeface="Times New Roman"/>
                          <a:ea typeface="Times New Roman"/>
                          <a:cs typeface="Times New Roman"/>
                          <a:sym typeface="Times New Roman"/>
                        </a:rPr>
                        <a:t>R^2</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s" sz="1100">
                          <a:solidFill>
                            <a:schemeClr val="dk1"/>
                          </a:solidFill>
                          <a:latin typeface="Times New Roman"/>
                          <a:ea typeface="Times New Roman"/>
                          <a:cs typeface="Times New Roman"/>
                          <a:sym typeface="Times New Roman"/>
                        </a:rPr>
                        <a:t>0.9678</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s" sz="1100">
                          <a:solidFill>
                            <a:schemeClr val="dk1"/>
                          </a:solidFill>
                          <a:latin typeface="Times New Roman"/>
                          <a:ea typeface="Times New Roman"/>
                          <a:cs typeface="Times New Roman"/>
                          <a:sym typeface="Times New Roman"/>
                        </a:rPr>
                        <a:t>0.9652</a:t>
                      </a:r>
                      <a:endParaRPr>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Conclusion and Future Work</a:t>
            </a:r>
            <a:endParaRPr/>
          </a:p>
        </p:txBody>
      </p:sp>
      <p:sp>
        <p:nvSpPr>
          <p:cNvPr id="173" name="Google Shape;173;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s"/>
              <a:t>The proposed temporal extension did not improve upon the original CITRIS-VAE temporal formulation for the Interventional Pong benchmark. However, it did work technically with similar results.</a:t>
            </a:r>
            <a:endParaRPr/>
          </a:p>
          <a:p>
            <a:pPr indent="0" lvl="0" marL="0" rtl="0" algn="l">
              <a:spcBef>
                <a:spcPts val="1200"/>
              </a:spcBef>
              <a:spcAft>
                <a:spcPts val="0"/>
              </a:spcAft>
              <a:buNone/>
            </a:pPr>
            <a:r>
              <a:rPr lang="es"/>
              <a:t>Results suggest that the optimal amount of temporal information depends on the characteristics of the environment and the complexity of its dynamics.</a:t>
            </a:r>
            <a:endParaRPr/>
          </a:p>
          <a:p>
            <a:pPr indent="0" lvl="0" marL="0" rtl="0" algn="l">
              <a:spcBef>
                <a:spcPts val="1200"/>
              </a:spcBef>
              <a:spcAft>
                <a:spcPts val="0"/>
              </a:spcAft>
              <a:buNone/>
            </a:pPr>
            <a:r>
              <a:rPr lang="es"/>
              <a:t>Perhaps the temporal windows become more beneficial in a more complex environment.</a:t>
            </a:r>
            <a:endParaRPr/>
          </a:p>
          <a:p>
            <a:pPr indent="0" lvl="0" marL="0" rtl="0" algn="l">
              <a:spcBef>
                <a:spcPts val="1200"/>
              </a:spcBef>
              <a:spcAft>
                <a:spcPts val="0"/>
              </a:spcAft>
              <a:buNone/>
            </a:pPr>
            <a:r>
              <a:rPr lang="es"/>
              <a:t>For BISCUIT the temporal extension did not improve the Baseline benchmark, however it remained high despite the added temporal sequence. It would be interesting to see if it is affected when removing the embedded temporal dynamics from input vector in Causal World.</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7" name="Shape 177"/>
        <p:cNvGrpSpPr/>
        <p:nvPr/>
      </p:nvGrpSpPr>
      <p:grpSpPr>
        <a:xfrm>
          <a:off x="0" y="0"/>
          <a:ext cx="0" cy="0"/>
          <a:chOff x="0" y="0"/>
          <a:chExt cx="0" cy="0"/>
        </a:xfrm>
      </p:grpSpPr>
      <p:sp>
        <p:nvSpPr>
          <p:cNvPr id="178" name="Google Shape;178;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Future Work</a:t>
            </a:r>
            <a:endParaRPr/>
          </a:p>
        </p:txBody>
      </p:sp>
      <p:sp>
        <p:nvSpPr>
          <p:cNvPr id="179" name="Google Shape;179;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Only small history windows have been tested.</a:t>
            </a:r>
            <a:endParaRPr/>
          </a:p>
          <a:p>
            <a:pPr indent="0" lvl="0" marL="0" rtl="0" algn="l">
              <a:spcBef>
                <a:spcPts val="1200"/>
              </a:spcBef>
              <a:spcAft>
                <a:spcPts val="0"/>
              </a:spcAft>
              <a:buNone/>
            </a:pPr>
            <a:r>
              <a:rPr lang="es"/>
              <a:t>Intervention handling was unchanged (CITRIS).</a:t>
            </a:r>
            <a:endParaRPr/>
          </a:p>
          <a:p>
            <a:pPr indent="0" lvl="0" marL="0" rtl="0" algn="l">
              <a:spcBef>
                <a:spcPts val="1200"/>
              </a:spcBef>
              <a:spcAft>
                <a:spcPts val="1200"/>
              </a:spcAft>
              <a:buNone/>
            </a:pPr>
            <a:r>
              <a:rPr lang="es"/>
              <a:t>Computational cost increase.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